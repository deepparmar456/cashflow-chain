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FINANCIAL RISK &amp; DECISION INTELLIGENCE</a:t>
            </a:r>
          </a:p>
          <a:p>
            <a:pPr>
              <a:spcBef>
                <a:spcPts val="1000"/>
              </a:spcBef>
              <a:defRPr sz="4600" b="1">
                <a:solidFill>
                  <a:srgbClr val="FFFFFF"/>
                </a:solidFill>
              </a:defRPr>
            </a:pPr>
            <a:r>
              <a:t>CashFlow Chain</a:t>
            </a:r>
          </a:p>
          <a:p>
            <a:pPr>
              <a:spcBef>
                <a:spcPts val="800"/>
              </a:spcBef>
              <a:defRPr sz="2000">
                <a:solidFill>
                  <a:srgbClr val="10B981"/>
                </a:solidFill>
              </a:defRPr>
            </a:pPr>
            <a:r>
              <a:t>Second-Order Financial Risk &amp; Intervention Engine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</a:defRPr>
            </a:pPr>
            <a:r>
              <a:t>Predicting customer payment delays with machine learning and halting downstream supply chain &amp; revenue collapse before it happens.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160020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₹24.0L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Payment Delay Shock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5120640"/>
            <a:ext cx="160020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₹6.6L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Stress Min Cash Floor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5120640"/>
            <a:ext cx="160020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12 Days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Assembly Line Outage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79" y="5120640"/>
            <a:ext cx="160020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₹31.0L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Revenue at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5120640"/>
            <a:ext cx="160020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₹48,000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Optimal Countermeasure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5120640"/>
            <a:ext cx="160020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64.6x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Net Intervention ROI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THE REAL-WORLD CRISIS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The SME Working Capital Trap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Why profitable companies die from delayed payments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82% of Small Businesses Fail from Cash Timing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Companies do not fail because of lack of demand or poor margins. They fail because inflows and outflows fall out of synchronization. Profitable on paper, insolvent in the bank.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728655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₹10,000+ Crores Locked in Delayed Payments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Large corporate buyers routinely stretch MSME credit cycles from 30 days to 60–90 days, effectively treating suppliers as interest-free credit 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10728655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The 'Invisible' Cascade Trap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A late receivable doesn't stay in finance. It freezes supplier payables, starves factory raw materials, halts assembly lines, and cancels committed customer sales orders.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MARKET ANALYSIS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Why Existing Software Leaves SMEs Vulnerable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Current software stops at the bank account. We bridge finance and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2900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Accounting Software</a:t>
            </a:r>
            <a:br/>
            <a:r>
              <a:t>(Tally, QuickBooks, Zoho)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Rearview-mirror bookkeeping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Reports what already happened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Invoices are static rows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Zero predictive foresight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42900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Forecasting Tools</a:t>
            </a:r>
            <a:br/>
            <a:r>
              <a:t>(Float, Pulse, PlanGuru)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Pure cash-in vs cash-out math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Blind to supply chains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Disconnected from inventory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Alerts on low cash, offers no fixes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429000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CASHFLOW CHAIN</a:t>
            </a:r>
            <a:br/>
            <a:r>
              <a:t>(Our Innovation)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Scikit-Learn delay prediction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6-Node Second-Order Causal Graph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Cross-silo: Cash → Supplier → Assembly → Revenue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Mathematical min-cost intervention solver (64x ROI)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PRODUCT EXPERIENCE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Self-Explanatory Architecture: The 5-Stage Guided Demo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Judges understand the problem, cascade, and solution in 60–90 seconds with zero verbal explanation</a:t>
            </a:r>
          </a:p>
        </p:txBody>
      </p:sp>
      <p:pic>
        <p:nvPicPr>
          <p:cNvPr id="4" name="Picture 3" descr="screen_0_landin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7498079" cy="43042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920240"/>
            <a:ext cx="301752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The Core Question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“If one important customer pays late, what does that break next?”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The 4-Step Loop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PREDICT → TRACE → SIMULATE → PREVENT</a:t>
            </a:r>
            <a:br/>
            <a:r>
              <a:t>Walks through causality step-by-step.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One-Click Guided Demo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▶ RUN GUIDED DEMO runs an interactive walkthrough, eliminating the need for separate explainer videos.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Light Fintech Aesthetic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Designed with the calm, institutional clarity of Stripe, Linear, and modern SaaS.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CORE INNOVATION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The 6-Node Second-Order Causal Graph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Tracing the deterministic ripple effect from invoice delay to factory shutdown</a:t>
            </a:r>
          </a:p>
        </p:txBody>
      </p:sp>
      <p:pic>
        <p:nvPicPr>
          <p:cNvPr id="4" name="Picture 3" descr="screen_demo_step2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7772400" cy="44616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920240"/>
            <a:ext cx="27432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1. Root Customer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ABC Industries delays ₹24L inflow by 21 days.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2. Working Capital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Cash breaches safety floor, plunging to ₹6.6L on Oct 14.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3. Critical Supplier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₹12L payable to PolyPlast halts raw resin dispatch.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4. Raw Material Buffer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18-day inventory buffer completely depletes.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5. Production Floor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12-day assembly line shutdown (600 units lost).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6. Commercial Revenue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Sales Orders SO-4021 &amp; 4029 cancel → ₹31.0L lost.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DATA SCIENCE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Payment Delay Trend Model (Scikit-Learn)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Moving from arbitrary static credit terms to deterministic delay regression</a:t>
            </a:r>
          </a:p>
        </p:txBody>
      </p:sp>
      <p:pic>
        <p:nvPicPr>
          <p:cNvPr id="4" name="Picture 3" descr="screen_2_customer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7315200" cy="41992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920240"/>
            <a:ext cx="310896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1000"/>
              </a:spcBef>
              <a:defRPr sz="1200" b="1">
                <a:solidFill>
                  <a:srgbClr val="F59E0B"/>
                </a:solidFill>
              </a:defRPr>
            </a:pPr>
            <a:r>
              <a:t>Regression Formulation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Delay(t) = 5.0 * t + 1.0</a:t>
            </a:r>
            <a:br/>
            <a:r>
              <a:t>Trained on historical payment cycles across Q3.</a:t>
            </a:r>
          </a:p>
          <a:p>
            <a:pPr>
              <a:spcBef>
                <a:spcPts val="1000"/>
              </a:spcBef>
              <a:defRPr sz="1200" b="1">
                <a:solidFill>
                  <a:srgbClr val="F59E0B"/>
                </a:solidFill>
              </a:defRPr>
            </a:pPr>
            <a:r>
              <a:t>Empirical Escalation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July: +6 days</a:t>
            </a:r>
            <a:br/>
            <a:r>
              <a:t>August: +11 days</a:t>
            </a:r>
            <a:br/>
            <a:r>
              <a:t>September: +16 days</a:t>
            </a:r>
            <a:br/>
            <a:r>
              <a:t>October (Predicted): +21 days</a:t>
            </a:r>
          </a:p>
          <a:p>
            <a:pPr>
              <a:spcBef>
                <a:spcPts val="1000"/>
              </a:spcBef>
              <a:defRPr sz="1200" b="1">
                <a:solidFill>
                  <a:srgbClr val="F59E0B"/>
                </a:solidFill>
              </a:defRPr>
            </a:pPr>
            <a:r>
              <a:t>Model Confidence (R²)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R² = 0.98 goodness-of-fit with 87% statistical confidence.</a:t>
            </a:r>
          </a:p>
          <a:p>
            <a:pPr>
              <a:spcBef>
                <a:spcPts val="1000"/>
              </a:spcBef>
              <a:defRPr sz="1200" b="1">
                <a:solidFill>
                  <a:srgbClr val="F59E0B"/>
                </a:solidFill>
              </a:defRPr>
            </a:pPr>
            <a:r>
              <a:t>4 Underlying Risk Signals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Escalating payment delays</a:t>
            </a:r>
            <a:br/>
            <a:r>
              <a:t>• Expanding balance (₹18L → ₹24L)</a:t>
            </a:r>
            <a:br/>
            <a:r>
              <a:t>• DSO rising to 48 days</a:t>
            </a:r>
            <a:br/>
            <a:r>
              <a:t>• 48.2% cash inflow concentration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DECISION OPTIMIZATION ENGINE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Prescriptive Interventions: The 64.6x ROI Solution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Mathematical minimization of intervention cost to protect 100% of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8655" cy="13258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OPTION A: EARLY PAYMENT INCENTIVE (SELECTED)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</a:defRPr>
            </a:pPr>
            <a:r>
              <a:t>Cost: ₹48,000 (2% Early Settlement Discount)  |  Revenue Protected: ₹31,00,000 (100% of orders saved)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Net Economic Benefit: ₹30,52,000 (64.6x ROI) • Outage: 0 Days (Factory runs uninterrupted) • Liquidity: Restored safely above ₹15L floor.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29000"/>
            <a:ext cx="10728655" cy="1325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OPTION B: REVENUE FACTORING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</a:defRPr>
            </a:pPr>
            <a:r>
              <a:t>Cost: ₹72,000 (3% Factor Fee)  |  Revenue Protected: ₹18,00,000 (Partial protection)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Net Economic Benefit: ₹17,28,000 • Outage: 5 Days (SO-4029 missed due to 5-day factor lag) • Liquidity: Partial recovery.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10728655" cy="1325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OPTION C: EMERGENCY CREDIT LINE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</a:defRPr>
            </a:pPr>
            <a:r>
              <a:t>Cost: ₹95,000 (High 15% APR + Origination Fees)  |  Revenue Protected: ₹31,00,000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Net Economic Benefit: ₹30,05,000 • Outage: 0 Days • Drawback: Incurs expensive recurring debt burden.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MEASURABLE ROI &amp; VERDICT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₹48,000 Intervention Prevents ₹31,00,000 Exposure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Visualizing live cascade neutralization from critical distress to 100% protected health</a:t>
            </a:r>
          </a:p>
        </p:txBody>
      </p:sp>
      <p:pic>
        <p:nvPicPr>
          <p:cNvPr id="4" name="Picture 3" descr="screen_demo_step4_pr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7498079" cy="43042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920240"/>
            <a:ext cx="301752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The 'Wow' Moment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Applying Option A turns all 6 nodes green in real time, halting the ripple effect immediately.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Net Capital Return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+₹30,52,000 net economic gain (64.6x Return on Investment on ₹48K fee).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Zero Assembly Outage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12-day projected shutdown reduced to 0 days. 100% committed delivery preserved.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Actionable Verdict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Doesn't just alert finance that cash is at risk. It shows what it breaks and what stops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PRODUCT EXTENSIBILITY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How Any SME Can Use This in Deployment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Universal 5-file SME Data Pack ingestion with zero hardcoding</a:t>
            </a:r>
          </a:p>
        </p:txBody>
      </p:sp>
      <p:pic>
        <p:nvPicPr>
          <p:cNvPr id="4" name="Picture 3" descr="screen_load_company_data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6583680" cy="37793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920240"/>
            <a:ext cx="3840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The 5 Core SME Data Inputs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1. company.csv (Cash &amp; minimum safety floor)</a:t>
            </a:r>
            <a:br/>
            <a:r>
              <a:t>2. receivables.csv (Customer invoices &amp; delay history)</a:t>
            </a:r>
            <a:br/>
            <a:r>
              <a:t>3. payables.csv (Supplier bills &amp; terms)</a:t>
            </a:r>
            <a:br/>
            <a:r>
              <a:t>4. inventory.csv (SKU burn rates &amp; buffer stock)</a:t>
            </a:r>
            <a:br/>
            <a:r>
              <a:t>5. sales_orders.csv (Customer orders &amp; delivery dates)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Live Ingestion &amp; Schema Validation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Strict column verification — if fields are missing, explicit error cards prevent silent fallbacks.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Dynamic Machine Learning Execution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The financial engine dynamically fits Scikit-Learn models on any uploaded company dataset in under 50ms.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ERP / Accounting API Readiness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These 5 CSV structures map 1:1 with Tally XML exports, Zoho Books APIs, and QuickBooks tables.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SUMMARY &amp; VISION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CashFlow Chain: From Reactive to Predictive Resilience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Empowering small businesses with institutional financial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737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Predictive, Not Reactive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Anticipates customer delays weeks before invoices breach.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011680"/>
            <a:ext cx="5120640" cy="1737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Cross-Domain Causality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Bridges banking, procurement, and factory floor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1737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Prescriptive Action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Automated min-cost interventions with proven 64.6x ROI.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1737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Universal Compatibility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Drop-in CSV ingestion for any manufacturing SME.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